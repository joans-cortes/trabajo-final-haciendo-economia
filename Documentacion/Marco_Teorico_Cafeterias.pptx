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A292E"/>
          </a:solidFill>
          <a:ln w="12700">
            <a:solidFill>
              <a:srgbClr val="BA292E"/>
            </a:solidFill>
            <a:prstDash val="solid"/>
          </a:ln>
        </p:spPr>
      </p:sp>
      <p:pic>
        <p:nvPicPr>
          <p:cNvPr id="3" name="Logo Universidad del Rosari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371600" cy="738835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457200" y="274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teórico: la experiencia en cafeterías de especialidad</a:t>
            </a:r>
            <a:endParaRPr lang="en-US" sz="3000" dirty="0"/>
          </a:p>
        </p:txBody>
      </p:sp>
      <p:sp>
        <p:nvSpPr>
          <p:cNvPr id="5" name="Subtítulo"/>
          <p:cNvSpPr txBox="1"/>
          <p:nvPr/>
        </p:nvSpPr>
        <p:spPr>
          <a:xfrm>
            <a:off x="457200" y="9144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Ambiente, personal y consumo frente a la frecuencia y el gasto</a:t>
            </a:r>
            <a:endParaRPr lang="en-US" sz="1800" dirty="0"/>
          </a:p>
        </p:txBody>
      </p:sp>
      <p:sp>
        <p:nvSpPr>
          <p:cNvPr id="6" name="Encabezado Contexto"/>
          <p:cNvSpPr txBox="1"/>
          <p:nvPr/>
        </p:nvSpPr>
        <p:spPr>
          <a:xfrm>
            <a:off x="36576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2000" dirty="0"/>
          </a:p>
        </p:txBody>
      </p:sp>
      <p:sp>
        <p:nvSpPr>
          <p:cNvPr id="7" name="Encabezado Factores de la experiencia"/>
          <p:cNvSpPr txBox="1"/>
          <p:nvPr/>
        </p:nvSpPr>
        <p:spPr>
          <a:xfrm>
            <a:off x="420624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la experiencia</a:t>
            </a:r>
            <a:endParaRPr lang="en-US" sz="2000" dirty="0"/>
          </a:p>
        </p:txBody>
      </p:sp>
      <p:sp>
        <p:nvSpPr>
          <p:cNvPr id="8" name="Encabezado Resultados"/>
          <p:cNvSpPr txBox="1"/>
          <p:nvPr/>
        </p:nvSpPr>
        <p:spPr>
          <a:xfrm>
            <a:off x="8778240" y="1508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2000" dirty="0"/>
          </a:p>
        </p:txBody>
      </p:sp>
      <p:sp>
        <p:nvSpPr>
          <p:cNvPr id="9" name="Cafetería"/>
          <p:cNvSpPr txBox="1"/>
          <p:nvPr/>
        </p:nvSpPr>
        <p:spPr>
          <a:xfrm>
            <a:off x="365760" y="2011680"/>
            <a:ext cx="2926080" cy="2194560"/>
          </a:xfrm>
          <a:prstGeom prst="rect">
            <a:avLst/>
          </a:prstGeom>
          <a:solidFill>
            <a:srgbClr val="FAF6F6"/>
          </a:solidFill>
          <a:ln w="12700">
            <a:solidFill>
              <a:srgbClr val="BA292E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Cafetería de especialidad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Café con atributos diferenciados: sabor, origen, procesamiento, sostenibilidad e historia (SCA, 2021)</a:t>
            </a:r>
            <a:endParaRPr lang="en-US" sz="1500" dirty="0"/>
          </a:p>
        </p:txBody>
      </p:sp>
      <p:sp>
        <p:nvSpPr>
          <p:cNvPr id="10" name="Clientes"/>
          <p:cNvSpPr txBox="1"/>
          <p:nvPr/>
        </p:nvSpPr>
        <p:spPr>
          <a:xfrm>
            <a:off x="365760" y="4434840"/>
            <a:ext cx="2926080" cy="1874520"/>
          </a:xfrm>
          <a:prstGeom prst="rect">
            <a:avLst/>
          </a:prstGeom>
          <a:solidFill>
            <a:srgbClr val="FAF6F6"/>
          </a:solidFill>
          <a:ln w="12700">
            <a:solidFill>
              <a:srgbClr val="BA292E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 de la visita, considerada en el análisis</a:t>
            </a:r>
            <a:endParaRPr lang="en-US" sz="1500" dirty="0"/>
          </a:p>
        </p:txBody>
      </p:sp>
      <p:sp>
        <p:nvSpPr>
          <p:cNvPr id="11" name="Ambiente"/>
          <p:cNvSpPr txBox="1"/>
          <p:nvPr/>
        </p:nvSpPr>
        <p:spPr>
          <a:xfrm>
            <a:off x="4206240" y="2011680"/>
            <a:ext cx="3383280" cy="1280160"/>
          </a:xfrm>
          <a:prstGeom prst="rect">
            <a:avLst/>
          </a:prstGeom>
          <a:solidFill>
            <a:srgbClr val="FAF6F6"/>
          </a:solidFill>
          <a:ln w="12700">
            <a:solidFill>
              <a:srgbClr val="BA292E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Ambiente físico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Condiciones del lugar (Bitner, 1992). Evidencia mixta (Kim y Kim, 2019)</a:t>
            </a:r>
            <a:endParaRPr lang="en-US" sz="1500" dirty="0"/>
          </a:p>
        </p:txBody>
      </p:sp>
      <p:sp>
        <p:nvSpPr>
          <p:cNvPr id="12" name="Personal"/>
          <p:cNvSpPr txBox="1"/>
          <p:nvPr/>
        </p:nvSpPr>
        <p:spPr>
          <a:xfrm>
            <a:off x="4206240" y="3520440"/>
            <a:ext cx="3383280" cy="1280160"/>
          </a:xfrm>
          <a:prstGeom prst="rect">
            <a:avLst/>
          </a:prstGeom>
          <a:solidFill>
            <a:srgbClr val="FAF6F6"/>
          </a:solidFill>
          <a:ln w="12700">
            <a:solidFill>
              <a:srgbClr val="BA292E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Interacción con el personal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Trato recibido (Rashid et al., 2021; Haktanir y Gullu, 2024)</a:t>
            </a:r>
            <a:endParaRPr lang="en-US" sz="1500" dirty="0"/>
          </a:p>
        </p:txBody>
      </p:sp>
      <p:sp>
        <p:nvSpPr>
          <p:cNvPr id="13" name="Consumo"/>
          <p:cNvSpPr txBox="1"/>
          <p:nvPr/>
        </p:nvSpPr>
        <p:spPr>
          <a:xfrm>
            <a:off x="4206240" y="5029200"/>
            <a:ext cx="3383280" cy="1280160"/>
          </a:xfrm>
          <a:prstGeom prst="rect">
            <a:avLst/>
          </a:prstGeom>
          <a:solidFill>
            <a:srgbClr val="FAF6F6"/>
          </a:solidFill>
          <a:ln w="12700">
            <a:solidFill>
              <a:srgbClr val="BA292E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Experiencia de consumo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Bebida, presentación, menú, precio-valor, comodidad y significado (Schmitt, 1999)</a:t>
            </a:r>
            <a:endParaRPr lang="en-US" sz="1500" dirty="0"/>
          </a:p>
        </p:txBody>
      </p:sp>
      <p:sp>
        <p:nvSpPr>
          <p:cNvPr id="14" name="Frecuencia"/>
          <p:cNvSpPr txBox="1"/>
          <p:nvPr/>
        </p:nvSpPr>
        <p:spPr>
          <a:xfrm>
            <a:off x="8778240" y="2743200"/>
            <a:ext cx="3017520" cy="1371600"/>
          </a:xfrm>
          <a:prstGeom prst="rect">
            <a:avLst/>
          </a:prstGeom>
          <a:solidFill>
            <a:srgbClr val="FAF6F6"/>
          </a:solidFill>
          <a:ln w="12700">
            <a:solidFill>
              <a:srgbClr val="BA292E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 de visita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Veces que el cliente visita la cafetería</a:t>
            </a:r>
            <a:endParaRPr lang="en-US" sz="1500" dirty="0"/>
          </a:p>
        </p:txBody>
      </p:sp>
      <p:sp>
        <p:nvSpPr>
          <p:cNvPr id="15" name="Gasto"/>
          <p:cNvSpPr txBox="1"/>
          <p:nvPr/>
        </p:nvSpPr>
        <p:spPr>
          <a:xfrm>
            <a:off x="8778240" y="4526280"/>
            <a:ext cx="3017520" cy="1371600"/>
          </a:xfrm>
          <a:prstGeom prst="rect">
            <a:avLst/>
          </a:prstGeom>
          <a:solidFill>
            <a:srgbClr val="FAF6F6"/>
          </a:solidFill>
          <a:ln w="12700">
            <a:solidFill>
              <a:srgbClr val="BA292E"/>
            </a:solidFill>
          </a:ln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Gasto por visita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Dinero que el cliente gasta en cada visita (Kim, 2022)</a:t>
            </a:r>
            <a:endParaRPr lang="en-US" sz="1500" dirty="0"/>
          </a:p>
        </p:txBody>
      </p:sp>
      <p:sp>
        <p:nvSpPr>
          <p:cNvPr id="16" name="Conector"/>
          <p:cNvSpPr/>
          <p:nvPr/>
        </p:nvSpPr>
        <p:spPr>
          <a:xfrm>
            <a:off x="3291840" y="3108960"/>
            <a:ext cx="45720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</a:ln>
        </p:spPr>
      </p:sp>
      <p:sp>
        <p:nvSpPr>
          <p:cNvPr id="17" name="Conector"/>
          <p:cNvSpPr/>
          <p:nvPr/>
        </p:nvSpPr>
        <p:spPr>
          <a:xfrm>
            <a:off x="3291840" y="5372100"/>
            <a:ext cx="45720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</a:ln>
        </p:spPr>
      </p:sp>
      <p:sp>
        <p:nvSpPr>
          <p:cNvPr id="18" name="Conector"/>
          <p:cNvSpPr/>
          <p:nvPr/>
        </p:nvSpPr>
        <p:spPr>
          <a:xfrm>
            <a:off x="3749040" y="2651760"/>
            <a:ext cx="0" cy="301752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</a:ln>
        </p:spPr>
      </p:sp>
      <p:sp>
        <p:nvSpPr>
          <p:cNvPr id="19" name="Conector"/>
          <p:cNvSpPr/>
          <p:nvPr/>
        </p:nvSpPr>
        <p:spPr>
          <a:xfrm>
            <a:off x="3749040" y="2651760"/>
            <a:ext cx="45720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  <a:tailEnd type="triangle"/>
          </a:ln>
        </p:spPr>
      </p:sp>
      <p:sp>
        <p:nvSpPr>
          <p:cNvPr id="20" name="Conector"/>
          <p:cNvSpPr/>
          <p:nvPr/>
        </p:nvSpPr>
        <p:spPr>
          <a:xfrm>
            <a:off x="3749040" y="4160520"/>
            <a:ext cx="45720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  <a:tailEnd type="triangle"/>
          </a:ln>
        </p:spPr>
      </p:sp>
      <p:sp>
        <p:nvSpPr>
          <p:cNvPr id="21" name="Conector"/>
          <p:cNvSpPr/>
          <p:nvPr/>
        </p:nvSpPr>
        <p:spPr>
          <a:xfrm>
            <a:off x="3749040" y="5669280"/>
            <a:ext cx="45720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  <a:tailEnd type="triangle"/>
          </a:ln>
        </p:spPr>
      </p:sp>
      <p:sp>
        <p:nvSpPr>
          <p:cNvPr id="22" name="Conector"/>
          <p:cNvSpPr/>
          <p:nvPr/>
        </p:nvSpPr>
        <p:spPr>
          <a:xfrm>
            <a:off x="7589520" y="2651760"/>
            <a:ext cx="59436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</a:ln>
        </p:spPr>
      </p:sp>
      <p:sp>
        <p:nvSpPr>
          <p:cNvPr id="23" name="Conector"/>
          <p:cNvSpPr/>
          <p:nvPr/>
        </p:nvSpPr>
        <p:spPr>
          <a:xfrm>
            <a:off x="7589520" y="4160520"/>
            <a:ext cx="59436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</a:ln>
        </p:spPr>
      </p:sp>
      <p:sp>
        <p:nvSpPr>
          <p:cNvPr id="24" name="Conector"/>
          <p:cNvSpPr/>
          <p:nvPr/>
        </p:nvSpPr>
        <p:spPr>
          <a:xfrm>
            <a:off x="7589520" y="5669280"/>
            <a:ext cx="59436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</a:ln>
        </p:spPr>
      </p:sp>
      <p:sp>
        <p:nvSpPr>
          <p:cNvPr id="25" name="Conector"/>
          <p:cNvSpPr/>
          <p:nvPr/>
        </p:nvSpPr>
        <p:spPr>
          <a:xfrm>
            <a:off x="8183880" y="2651760"/>
            <a:ext cx="0" cy="301752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</a:ln>
        </p:spPr>
      </p:sp>
      <p:sp>
        <p:nvSpPr>
          <p:cNvPr id="26" name="Conector"/>
          <p:cNvSpPr/>
          <p:nvPr/>
        </p:nvSpPr>
        <p:spPr>
          <a:xfrm>
            <a:off x="8183880" y="3429000"/>
            <a:ext cx="59436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  <a:tailEnd type="triangle"/>
          </a:ln>
        </p:spPr>
      </p:sp>
      <p:sp>
        <p:nvSpPr>
          <p:cNvPr id="27" name="Conector"/>
          <p:cNvSpPr/>
          <p:nvPr/>
        </p:nvSpPr>
        <p:spPr>
          <a:xfrm>
            <a:off x="8183880" y="5212080"/>
            <a:ext cx="594360" cy="0"/>
          </a:xfrm>
          <a:prstGeom prst="line">
            <a:avLst/>
          </a:prstGeom>
          <a:noFill/>
          <a:ln w="15875">
            <a:solidFill>
              <a:srgbClr val="BA292E"/>
            </a:solidFill>
            <a:prstDash val="solid"/>
            <a:tailEnd type="triangle"/>
          </a:ln>
        </p:spPr>
      </p:sp>
      <p:sp>
        <p:nvSpPr>
          <p:cNvPr id="28" name="Fuente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Elaboración propia con base en la literatura revisada.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A292E"/>
          </a:solidFill>
          <a:ln w="12700">
            <a:solidFill>
              <a:srgbClr val="BA292E"/>
            </a:solidFill>
            <a:prstDash val="solid"/>
          </a:ln>
        </p:spPr>
      </p:sp>
      <p:pic>
        <p:nvPicPr>
          <p:cNvPr id="3" name="Logo Universidad del Rosario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371600" cy="738835"/>
          </a:xfrm>
          <a:prstGeom prst="rect">
            <a:avLst/>
          </a:prstGeom>
        </p:spPr>
      </p:pic>
      <p:sp>
        <p:nvSpPr>
          <p:cNvPr id="4" name="Título"/>
          <p:cNvSpPr txBox="1"/>
          <p:nvPr/>
        </p:nvSpPr>
        <p:spPr>
          <a:xfrm>
            <a:off x="457200" y="2743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respalda cada factor</a:t>
            </a:r>
            <a:endParaRPr lang="en-US" sz="3000" dirty="0"/>
          </a:p>
        </p:txBody>
      </p:sp>
      <p:sp>
        <p:nvSpPr>
          <p:cNvPr id="5" name="Subtítulo"/>
          <p:cNvSpPr txBox="1"/>
          <p:nvPr/>
        </p:nvSpPr>
        <p:spPr>
          <a:xfrm>
            <a:off x="457200" y="9144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académica y vacío frente al caso de Chapinero</a:t>
            </a:r>
            <a:endParaRPr lang="en-US" sz="1800" dirty="0"/>
          </a:p>
        </p:txBody>
      </p:sp>
      <p:graphicFrame>
        <p:nvGraphicFramePr>
          <p:cNvPr id="3" name="Tabla de evidenci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Factor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29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Definición en el proyecto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29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Evidencia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29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Ambiente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Condiciones físicas del lugar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Bitner (1992): el entorno influye en clientes y empleados. Kim y Kim (2019), 195 estudiantes: sin asociación significativa con la satisfacción; es una pregunta abierta.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Interacción con el personal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Trato recibido durante la visita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Rashid et al. (2021), 387 clientes: el encuentro de servicio se relaciona con valor experiencial y lealtad. Haktanir y Gullu (2024): la red social con empleados explica visitas repetidas. Mendoza Serna (2018): solo 12 personas.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Experiencia de consumo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Percepciones formadas en la visita: calidad sensorial, presentación, variedad, precio-valor, comodidad y significado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Schmitt (1999): valor mediante experiencias sensoriales, emocionales, cognitivas, conductuales y relacionales. Nadiri y Gunay (2013), 450 jóvenes: se relaciona con satisfacción e intención de volver.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Frecuencia y gasto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Resultados observados en cada cliente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0404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Kim (2022): la satisfacción se asocia con gasto y frecuencia. Kim y Kim (2019): la recompra depende más del hábito que de la intención.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29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6"/>
                    </a:solidFill>
                  </a:tcPr>
                </a:tc>
              </a:tr>
            </a:tbl>
          </a:graphicData>
        </a:graphic>
      </p:graphicFrame>
      <p:sp>
        <p:nvSpPr>
          <p:cNvPr id="7" name="Vacío de investigación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A2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Vacío: </a:t>
            </a:r>
            <a:pPr indent="0" marL="0">
              <a:buNone/>
            </a:pPr>
            <a:r>
              <a:rPr lang="en-US" sz="1400" dirty="0">
                <a:solidFill>
                  <a:srgbClr val="4040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evidencia es mayormente extranjera y mide satisfacción o lealtad; en Bogotá solo hay literatura gris del sector, sin datos de consumo en Chapinero.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2026-10-26T19:14:17Z</dcterms:created>
  <dcterms:modified xsi:type="dcterms:W3CDTF">2026-10-26T19:14:17Z</dcterms:modified>
</cp:coreProperties>
</file>